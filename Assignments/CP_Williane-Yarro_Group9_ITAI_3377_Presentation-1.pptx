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7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10"/>
  </p:normalViewPr>
  <p:slideViewPr>
    <p:cSldViewPr snapToGrid="0" snapToObjects="1">
      <p:cViewPr>
        <p:scale>
          <a:sx n="88" d="100"/>
          <a:sy n="88" d="100"/>
        </p:scale>
        <p:origin x="62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402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chose the conceptual path. Our topic is industrial smart factory maintenance, not healthcare. This presentation explains our design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natural: the problem is not complicated. We want to catch machine problems before they turn into bigger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the basic idea: collect data, process it locally, find warning signs, then recommend a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flow from left to right. This slide is the easiest way to explain the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keeps the generative AI part grounded. It helps explain and support decisions; it is not magically controlling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you explain autonomy in a realistic way. It is not uncontrolled AI; it is risk-based recommendations with safeguards.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covers the security, ethics, and testing parts of the assignment. Keep it practical and quick.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saying this is a conceptual design for an industrial predictive maintenance system. It covers architecture, AI approach, security, and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just shows the source links for the references. We do not need to present every citation out loud unless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49694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64968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80536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25439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50857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85368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2095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04004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6960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1935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632136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02459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3570884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58672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52300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5860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177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1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502920"/>
            <a:ext cx="2651760" cy="2651760"/>
          </a:xfrm>
          <a:prstGeom prst="ellipse">
            <a:avLst/>
          </a:prstGeom>
          <a:solidFill>
            <a:srgbClr val="F8FAFC">
              <a:alpha val="0"/>
            </a:srgbClr>
          </a:solidFill>
          <a:ln w="38100">
            <a:solidFill>
              <a:srgbClr val="20A39E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1097280"/>
            <a:ext cx="1600200" cy="1600200"/>
          </a:xfrm>
          <a:prstGeom prst="ellipse">
            <a:avLst/>
          </a:prstGeom>
          <a:solidFill>
            <a:srgbClr val="F8FAFC">
              <a:alpha val="0"/>
            </a:srgbClr>
          </a:solidFill>
          <a:ln w="25400">
            <a:solidFill>
              <a:srgbClr val="F2994A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21792"/>
            <a:ext cx="1508760" cy="329184"/>
          </a:xfrm>
          <a:prstGeom prst="roundRect">
            <a:avLst>
              <a:gd name="adj" fmla="val 22222"/>
            </a:avLst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70408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Conceptual Path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8321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A43"/>
                </a:solidFill>
              </a:rPr>
              <a:t>Autonomous Maintenance Agent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02A43"/>
                </a:solidFill>
              </a:rPr>
              <a:t>for Smart Factory Using Generative AI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02A43"/>
                </a:solidFill>
              </a:rPr>
              <a:t>and Edge IIoT Systems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13232" y="3154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A39E"/>
                </a:solidFill>
              </a:rPr>
              <a:t>ITAI 3377 Capstone | Group 9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13232" y="3611880"/>
            <a:ext cx="4663440" cy="0"/>
          </a:xfrm>
          <a:prstGeom prst="line">
            <a:avLst/>
          </a:prstGeom>
          <a:noFill/>
          <a:ln w="25400">
            <a:solidFill>
              <a:srgbClr val="20A3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84048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Elizabeth Carrillo • Luisleonardo Ortiz-Vazquez • Oscar Cortez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Trevon Woods • Williane Yarro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4617720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Conceptual design for an industrial smart factory maintenance agent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750040" y="644652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problem are we solving?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9144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B5563"/>
                </a:solidFill>
              </a:rPr>
              <a:t>Factories lose time and money when machines fail without warning.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982980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ITAI 3377 | Group 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</a:rPr>
              <a:t>In a smart factory, one machine problem can slow down the whole line.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423160"/>
            <a:ext cx="73152" cy="123444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569464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What happens now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78408" y="2898648"/>
            <a:ext cx="29352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A lot of maintenance is still reactive: fix the machine after it breaks.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4434840" y="242316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242316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2569464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Why that hurts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36008" y="2898648"/>
            <a:ext cx="29352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Breakdowns can cause downtime, repair costs, safety issues, and missed production time.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8092440" y="242316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2423160"/>
            <a:ext cx="73152" cy="1234440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2569464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Our idea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3608" y="2898648"/>
            <a:ext cx="29352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Spot warning signs earlier and recommend what the maintenance team should do next.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914400" y="48006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A43"/>
                </a:solidFill>
              </a:rPr>
              <a:t>Our focus stays industrial: motors, pumps, compressors, conveyors, and robotic arms.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1750040" y="644652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proposed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9144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B5563"/>
                </a:solidFill>
              </a:rPr>
              <a:t>An AI maintenance agent that watches machine data and recommends a response.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982980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ITAI 3377 | Group 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63040"/>
            <a:ext cx="73152" cy="1417320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609344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1. Monitor equipment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408" y="1938528"/>
            <a:ext cx="29352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IIoT sensors collect vibration, temperature, pressure, sound, and power usage data.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4434840" y="14630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463040"/>
            <a:ext cx="73152" cy="14173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609344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2. Find unusual patterns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36008" y="1938528"/>
            <a:ext cx="29352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Edge devices run lightweight AI models close to the machines.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8092440" y="14630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463040"/>
            <a:ext cx="73152" cy="1417320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609344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3. Recommend action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93608" y="1938528"/>
            <a:ext cx="29352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The agent classifies risk and suggests monitoring, inspection, repair, or shutdown review.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86868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</a:rPr>
              <a:t>Example warning signs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68680" y="4343400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4425696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abnormal vibration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3063240" y="4343400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36392" y="4425696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rising temperature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5257800" y="4343400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0952" y="4425696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pressure changes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7452360" y="4343400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25512" y="4425696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power spikes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9646920" y="4343400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20072" y="4425696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unusual sound</a:t>
            </a:r>
            <a:endParaRPr lang="en-US" sz="960" dirty="0"/>
          </a:p>
        </p:txBody>
      </p:sp>
      <p:sp>
        <p:nvSpPr>
          <p:cNvPr id="30" name="Text 27"/>
          <p:cNvSpPr/>
          <p:nvPr/>
        </p:nvSpPr>
        <p:spPr>
          <a:xfrm>
            <a:off x="11750040" y="644652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system would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9144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B5563"/>
                </a:solidFill>
              </a:rPr>
              <a:t>Simple data flow for the conceptual design.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982980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ITAI 3377 | Group 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20A3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500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</a:rPr>
              <a:t>Sensors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</a:rPr>
              <a:t>machine readings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9464" y="2542032"/>
            <a:ext cx="301752" cy="310896"/>
          </a:xfrm>
          <a:prstGeom prst="rightArrow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214884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2F8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3500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</a:rPr>
              <a:t>Edge gateway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17520" y="28346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</a:rPr>
              <a:t>local processing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55464" y="2542032"/>
            <a:ext cx="301752" cy="310896"/>
          </a:xfrm>
          <a:prstGeom prst="rightArrow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214884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20A3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23500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</a:rPr>
              <a:t>AI model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0" y="28346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</a:rPr>
              <a:t>spots anomalies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41464" y="2542032"/>
            <a:ext cx="301752" cy="310896"/>
          </a:xfrm>
          <a:prstGeom prst="rightArrow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214884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2F80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23500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</a:rPr>
              <a:t>Agent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589520" y="28346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</a:rPr>
              <a:t>chooses risk level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427464" y="2542032"/>
            <a:ext cx="301752" cy="310896"/>
          </a:xfrm>
          <a:prstGeom prst="rightArrow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84080" y="214884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20A3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0" y="23500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</a:rPr>
              <a:t>Response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875520" y="28346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</a:rPr>
              <a:t>maintenance action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4343400"/>
            <a:ext cx="4892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343400"/>
            <a:ext cx="73152" cy="1051560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4489704"/>
            <a:ext cx="4581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Why edge computing?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24128" y="4818888"/>
            <a:ext cx="45811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It keeps decisions closer to the equipment, which helps with speed, bandwidth, and reliability.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6492240" y="4343400"/>
            <a:ext cx="4892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4343400"/>
            <a:ext cx="73152" cy="10515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93408" y="4489704"/>
            <a:ext cx="4581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Tools we would consider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93408" y="4818888"/>
            <a:ext cx="45811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Edge Impulse, TensorFlow Lite, Node-RED, Raspberry Pi, or NVIDIA Jetson.</a:t>
            </a:r>
            <a:endParaRPr lang="en-US" sz="1160" dirty="0"/>
          </a:p>
        </p:txBody>
      </p:sp>
      <p:sp>
        <p:nvSpPr>
          <p:cNvPr id="34" name="Text 31"/>
          <p:cNvSpPr/>
          <p:nvPr/>
        </p:nvSpPr>
        <p:spPr>
          <a:xfrm>
            <a:off x="11750040" y="644652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Generative AI fits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9144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B5563"/>
                </a:solidFill>
              </a:rPr>
              <a:t>Generative AI is used to support the maintenance agent, not to run the factory by itself.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982980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ITAI 3377 | Group 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73152" cy="18288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563624"/>
            <a:ext cx="3118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Synthetic failure examples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408" y="1892808"/>
            <a:ext cx="31181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It can create sample failure patterns when real failure data is limited.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563624"/>
            <a:ext cx="3118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Plain-language explanations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0288" y="1892808"/>
            <a:ext cx="31181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It can turn AI model results into explanations technicians can actually use.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8001000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1417320"/>
            <a:ext cx="73152" cy="1828800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02168" y="1563624"/>
            <a:ext cx="3118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Maintenance guidance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02168" y="1892808"/>
            <a:ext cx="31181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It can suggest the next step, such as monitor, inspect, or schedule repair.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1005840" y="4251960"/>
            <a:ext cx="10149840" cy="960120"/>
          </a:xfrm>
          <a:prstGeom prst="roundRect">
            <a:avLst>
              <a:gd name="adj" fmla="val 7619"/>
            </a:avLst>
          </a:prstGeom>
          <a:solidFill>
            <a:srgbClr val="FFF7ED"/>
          </a:solidFill>
          <a:ln w="15240">
            <a:solidFill>
              <a:srgbClr val="FDBA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4617720"/>
            <a:ext cx="9646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102A43"/>
                </a:solidFill>
              </a:rPr>
              <a:t>Example output: “Possible bearing issue detected. Vibration and temperature are both rising. Inspection recommended within 24 hours.”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1750040" y="644652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logic + safety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9144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B5563"/>
                </a:solidFill>
              </a:rPr>
              <a:t>The agent gives recommendations based on risk level.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982980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ITAI 3377 | Group 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</a:rPr>
              <a:t>Risk levels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4617720" cy="475488"/>
          </a:xfrm>
          <a:prstGeom prst="roundRect">
            <a:avLst>
              <a:gd name="adj" fmla="val 13462"/>
            </a:avLst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98424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Low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423160" y="198424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keep watching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2532888"/>
            <a:ext cx="4617720" cy="475488"/>
          </a:xfrm>
          <a:prstGeom prst="roundRect">
            <a:avLst>
              <a:gd name="adj" fmla="val 13462"/>
            </a:avLst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64261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Medium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423160" y="264261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send alert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3191256"/>
            <a:ext cx="4617720" cy="475488"/>
          </a:xfrm>
          <a:prstGeom prst="roundRect">
            <a:avLst>
              <a:gd name="adj" fmla="val 13462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30098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High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23160" y="330098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recommend inspection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3849624"/>
            <a:ext cx="4617720" cy="475488"/>
          </a:xfrm>
          <a:prstGeom prst="roundRect">
            <a:avLst>
              <a:gd name="adj" fmla="val 13462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95935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Critical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423160" y="39593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recommend shutdown review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14173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417320"/>
            <a:ext cx="73152" cy="12344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1563624"/>
            <a:ext cx="4352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Human oversight stays in place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01968" y="1892808"/>
            <a:ext cx="43525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The agent can recommend actions, but high-impact decisions should still involve people.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6400800" y="306324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063240"/>
            <a:ext cx="73152" cy="12344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01968" y="3209544"/>
            <a:ext cx="4352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Why this matters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601968" y="3538728"/>
            <a:ext cx="43525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It gives the factory faster warning signs without giving the AI unlimited control.</a:t>
            </a:r>
            <a:endParaRPr lang="en-US" sz="1160" dirty="0"/>
          </a:p>
        </p:txBody>
      </p:sp>
      <p:sp>
        <p:nvSpPr>
          <p:cNvPr id="27" name="Shape 25"/>
          <p:cNvSpPr/>
          <p:nvPr/>
        </p:nvSpPr>
        <p:spPr>
          <a:xfrm>
            <a:off x="1005840" y="5257800"/>
            <a:ext cx="10195560" cy="502920"/>
          </a:xfrm>
          <a:prstGeom prst="roundRect">
            <a:avLst>
              <a:gd name="adj" fmla="val 10909"/>
            </a:avLst>
          </a:prstGeom>
          <a:solidFill>
            <a:srgbClr val="E8F7F6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5431536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</a:rPr>
              <a:t>Bottom line: faster response, but still controlled and reviewable.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1750040" y="644652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Security, ethics, and testing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9144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B5563"/>
                </a:solidFill>
              </a:rPr>
              <a:t>The design also has to be safe, secure, and testable.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982980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ITAI 3377 | Group 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25880"/>
            <a:ext cx="73152" cy="18288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472184"/>
            <a:ext cx="3026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Security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408" y="1801368"/>
            <a:ext cx="30266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Use encryption, device authentication, role-based access, zero trust checks, and monitoring for strange sensor or network behavior.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4434840" y="132588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325880"/>
            <a:ext cx="73152" cy="18288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472184"/>
            <a:ext cx="3026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Ethics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36008" y="1801368"/>
            <a:ext cx="30266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Avoid overreliance on AI. Watch for false alarms, missed failures, model bias, and keep human override available.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8092440" y="132588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325880"/>
            <a:ext cx="73152" cy="1828800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472184"/>
            <a:ext cx="3026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Testing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93608" y="1801368"/>
            <a:ext cx="30266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Test accuracy, response time, sensor failures, spoofed data, unauthorized access, and safety of recommendations.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868680" y="3886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</a:rPr>
              <a:t>Theoretical implementation plan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" y="4343400"/>
            <a:ext cx="103327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r>
              <a:rPr lang="en-US" sz="1580" dirty="0">
                <a:solidFill>
                  <a:srgbClr val="1F2937"/>
                </a:solidFill>
              </a:rPr>
              <a:t>Start with one machine type, like motors</a:t>
            </a:r>
            <a:endParaRPr lang="en-US" sz="1580" dirty="0"/>
          </a:p>
          <a:p>
            <a:r>
              <a:rPr lang="en-US" sz="1580" dirty="0">
                <a:solidFill>
                  <a:srgbClr val="1F2937"/>
                </a:solidFill>
              </a:rPr>
              <a:t>Collect normal baseline data</a:t>
            </a:r>
            <a:endParaRPr lang="en-US" sz="1580" dirty="0"/>
          </a:p>
          <a:p>
            <a:r>
              <a:rPr lang="en-US" sz="1580" dirty="0">
                <a:solidFill>
                  <a:srgbClr val="1F2937"/>
                </a:solidFill>
              </a:rPr>
              <a:t>Train and test predictive models</a:t>
            </a:r>
            <a:endParaRPr lang="en-US" sz="1580" dirty="0"/>
          </a:p>
          <a:p>
            <a:r>
              <a:rPr lang="en-US" sz="1580" dirty="0">
                <a:solidFill>
                  <a:srgbClr val="1F2937"/>
                </a:solidFill>
              </a:rPr>
              <a:t>Deploy conceptually at the edge</a:t>
            </a:r>
            <a:endParaRPr lang="en-US" sz="1580" dirty="0"/>
          </a:p>
          <a:p>
            <a:r>
              <a:rPr lang="en-US" sz="1580" dirty="0">
                <a:solidFill>
                  <a:srgbClr val="1F2937"/>
                </a:solidFill>
              </a:rPr>
              <a:t>Add the autonomous agent for risk-based recommendations</a:t>
            </a:r>
            <a:endParaRPr lang="en-US" sz="1580" dirty="0"/>
          </a:p>
        </p:txBody>
      </p:sp>
      <p:sp>
        <p:nvSpPr>
          <p:cNvPr id="21" name="Text 18"/>
          <p:cNvSpPr/>
          <p:nvPr/>
        </p:nvSpPr>
        <p:spPr>
          <a:xfrm>
            <a:off x="11750040" y="644652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9144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B5563"/>
                </a:solidFill>
              </a:rPr>
              <a:t>What our conceptual design shows.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982980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ITAI 3377 | Group 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</a:rPr>
              <a:t>Our project shows how AI, edge computing, and IIoT could help a smart factory catch equipment problems earlier.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251460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514600"/>
            <a:ext cx="73152" cy="1143000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660904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Main benefit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78408" y="2990088"/>
            <a:ext cx="29352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Less unexpected downtime and better maintenance planning.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4343400" y="251460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514600"/>
            <a:ext cx="73152" cy="114300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2660904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Important limit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44568" y="2990088"/>
            <a:ext cx="29352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This is conceptual, so no coding or working demo is included.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7909560" y="251460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2514600"/>
            <a:ext cx="73152" cy="1143000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0728" y="2660904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Why it fits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10728" y="2990088"/>
            <a:ext cx="29352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B5563"/>
                </a:solidFill>
              </a:rPr>
              <a:t>It matches the smart factory autonomous maintenance use case from the assignment.</a:t>
            </a:r>
            <a:endParaRPr lang="en-US" sz="1160" dirty="0"/>
          </a:p>
        </p:txBody>
      </p:sp>
      <p:sp>
        <p:nvSpPr>
          <p:cNvPr id="20" name="Text 17"/>
          <p:cNvSpPr/>
          <p:nvPr/>
        </p:nvSpPr>
        <p:spPr>
          <a:xfrm>
            <a:off x="11750040" y="644652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9144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B5563"/>
                </a:solidFill>
              </a:rPr>
              <a:t>Sources used for the project background and technical concepts.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9829800" y="6446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ITAI 3377 | Group 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442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10378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1F2937"/>
                </a:solidFill>
              </a:rPr>
              <a:t>Lee, J., Davari, H., Singh, J., &amp; Pandhare, V. (2018). Industrial artificial intelligence for Industry 4.0-based manufacturing systems. Manufacturing Letters, 18, 20–23. https://doi.org/10.1016/j.mfglet.2018.09.002</a:t>
            </a:r>
            <a:endParaRPr lang="en-US" sz="1110" dirty="0"/>
          </a:p>
        </p:txBody>
      </p:sp>
      <p:sp>
        <p:nvSpPr>
          <p:cNvPr id="8" name="Shape 6"/>
          <p:cNvSpPr/>
          <p:nvPr/>
        </p:nvSpPr>
        <p:spPr>
          <a:xfrm>
            <a:off x="731520" y="2404872"/>
            <a:ext cx="107442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87752"/>
            <a:ext cx="10378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1F2937"/>
                </a:solidFill>
              </a:rPr>
              <a:t>Liang, S., Jin, S., &amp; Chen, Y. (2024). A review of edge computing technology and its applications in power systems. Energies, 17(13), 3230. https://doi.org/10.3390/en17133230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731520" y="3575304"/>
            <a:ext cx="107442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58184"/>
            <a:ext cx="10378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1F2937"/>
                </a:solidFill>
              </a:rPr>
              <a:t>Lu, Y. (2017). Industry 4.0: A survey on technologies, applications and open research issues. Journal of Industrial Information Integration, 6, 1–10. https://doi.org/10.1016/j.jii.2017.04.005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731520" y="4745736"/>
            <a:ext cx="10744200" cy="89611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928616"/>
            <a:ext cx="10378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1F2937"/>
                </a:solidFill>
              </a:rPr>
              <a:t>Shi, W., Cao, J., Zhang, Q., Li, Y., &amp; Xu, L. (2016). Edge computing: Vision and challenges. IEEE Internet of Things Journal, 3(5), 637–646. https://doi.org/10.1109/JIOT.2016.2579198</a:t>
            </a:r>
            <a:endParaRPr lang="en-US" sz="1110" dirty="0"/>
          </a:p>
        </p:txBody>
      </p:sp>
      <p:sp>
        <p:nvSpPr>
          <p:cNvPr id="15" name="Text 12"/>
          <p:cNvSpPr/>
          <p:nvPr/>
        </p:nvSpPr>
        <p:spPr>
          <a:xfrm>
            <a:off x="11750040" y="644652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</TotalTime>
  <Words>1125</Words>
  <Application>Microsoft Office PowerPoint</Application>
  <PresentationFormat>Widescreen</PresentationFormat>
  <Paragraphs>137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 Display</vt:lpstr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ITAI 3377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Maintenance Agent for Smart Factory Using Generative AI and Edge IIoT Systems</dc:title>
  <dc:subject>Conceptual Path Capstone Presentation</dc:subject>
  <dc:creator>Group 9</dc:creator>
  <cp:lastModifiedBy>Williame Yarro</cp:lastModifiedBy>
  <cp:revision>2</cp:revision>
  <dcterms:created xsi:type="dcterms:W3CDTF">2026-04-26T20:31:16Z</dcterms:created>
  <dcterms:modified xsi:type="dcterms:W3CDTF">2026-05-01T05:47:09Z</dcterms:modified>
</cp:coreProperties>
</file>